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handoutMasterIdLst>
    <p:handoutMasterId r:id="rId16"/>
  </p:handoutMasterIdLst>
  <p:sldIdLst>
    <p:sldId id="281" r:id="rId5"/>
    <p:sldId id="261" r:id="rId6"/>
    <p:sldId id="280" r:id="rId7"/>
    <p:sldId id="278" r:id="rId8"/>
    <p:sldId id="273" r:id="rId9"/>
    <p:sldId id="279" r:id="rId10"/>
    <p:sldId id="265" r:id="rId11"/>
    <p:sldId id="277" r:id="rId12"/>
    <p:sldId id="283" r:id="rId13"/>
    <p:sldId id="28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74F532-E5A2-4CD2-9756-1497FECB35B2}" v="240" dt="2026-03-24T20:18:22.871"/>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879" autoAdjust="0"/>
  </p:normalViewPr>
  <p:slideViewPr>
    <p:cSldViewPr snapToGrid="0">
      <p:cViewPr varScale="1">
        <p:scale>
          <a:sx n="78" d="100"/>
          <a:sy n="78" d="100"/>
        </p:scale>
        <p:origin x="835" y="67"/>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ana Bhujade" userId="d3973a75eac5c159" providerId="LiveId" clId="{E7693AEB-6840-4900-9B17-315C5C7DD1A1}"/>
    <pc:docChg chg="modSld">
      <pc:chgData name="Sanjana Bhujade" userId="d3973a75eac5c159" providerId="LiveId" clId="{E7693AEB-6840-4900-9B17-315C5C7DD1A1}" dt="2026-03-24T20:03:15.693" v="234" actId="27918"/>
      <pc:docMkLst>
        <pc:docMk/>
      </pc:docMkLst>
      <pc:sldChg chg="mod">
        <pc:chgData name="Sanjana Bhujade" userId="d3973a75eac5c159" providerId="LiveId" clId="{E7693AEB-6840-4900-9B17-315C5C7DD1A1}" dt="2026-03-24T20:03:15.550" v="230" actId="27918"/>
        <pc:sldMkLst>
          <pc:docMk/>
          <pc:sldMk cId="729609147" sldId="265"/>
        </pc:sldMkLst>
      </pc:sldChg>
      <pc:sldChg chg="mod">
        <pc:chgData name="Sanjana Bhujade" userId="d3973a75eac5c159" providerId="LiveId" clId="{E7693AEB-6840-4900-9B17-315C5C7DD1A1}" dt="2026-03-24T20:03:15.583" v="231" actId="27918"/>
        <pc:sldMkLst>
          <pc:docMk/>
          <pc:sldMk cId="1679936628" sldId="273"/>
        </pc:sldMkLst>
      </pc:sldChg>
      <pc:sldChg chg="mod">
        <pc:chgData name="Sanjana Bhujade" userId="d3973a75eac5c159" providerId="LiveId" clId="{E7693AEB-6840-4900-9B17-315C5C7DD1A1}" dt="2026-03-24T20:03:15.693" v="234" actId="27918"/>
        <pc:sldMkLst>
          <pc:docMk/>
          <pc:sldMk cId="1649597717" sldId="277"/>
        </pc:sldMkLst>
      </pc:sldChg>
      <pc:sldChg chg="mod">
        <pc:chgData name="Sanjana Bhujade" userId="d3973a75eac5c159" providerId="LiveId" clId="{E7693AEB-6840-4900-9B17-315C5C7DD1A1}" dt="2026-03-24T20:03:15.656" v="233" actId="27918"/>
        <pc:sldMkLst>
          <pc:docMk/>
          <pc:sldMk cId="3930438526" sldId="278"/>
        </pc:sldMkLst>
      </pc:sldChg>
      <pc:sldChg chg="mod">
        <pc:chgData name="Sanjana Bhujade" userId="d3973a75eac5c159" providerId="LiveId" clId="{E7693AEB-6840-4900-9B17-315C5C7DD1A1}" dt="2026-03-24T20:03:15.624" v="232" actId="27918"/>
        <pc:sldMkLst>
          <pc:docMk/>
          <pc:sldMk cId="2243159397" sldId="279"/>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D3973A75EAC5C159/Documents/retail_store_sales.csv.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D3973A75EAC5C159/Documents/retail_store_sales.csv.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D3973A75EAC5C159/Documents/retail_store_sales.csv.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D3973A75EAC5C159/Documents/retail_store_sales.csv.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D3973A75EAC5C159/Documents/retail_store_sales.csv.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50" baseline="0">
                <a:solidFill>
                  <a:schemeClr val="tx1"/>
                </a:solidFill>
                <a:latin typeface="+mn-lt"/>
                <a:ea typeface="+mn-ea"/>
                <a:cs typeface="+mn-cs"/>
              </a:defRPr>
            </a:pPr>
            <a:r>
              <a:rPr lang="en-US" sz="1600">
                <a:solidFill>
                  <a:schemeClr val="tx1"/>
                </a:solidFill>
              </a:rPr>
              <a:t>Sales</a:t>
            </a:r>
            <a:r>
              <a:rPr lang="en-US" sz="1600" baseline="0">
                <a:solidFill>
                  <a:schemeClr val="tx1"/>
                </a:solidFill>
              </a:rPr>
              <a:t> By Category</a:t>
            </a:r>
            <a:endParaRPr lang="en-US" sz="1600">
              <a:solidFill>
                <a:schemeClr val="tx1"/>
              </a:solidFill>
            </a:endParaRPr>
          </a:p>
        </c:rich>
      </c:tx>
      <c:overlay val="0"/>
      <c:spPr>
        <a:noFill/>
        <a:ln>
          <a:noFill/>
        </a:ln>
        <a:effectLst/>
      </c:spPr>
      <c:txPr>
        <a:bodyPr rot="0" spcFirstLastPara="1" vertOverflow="ellipsis" vert="horz" wrap="square" anchor="ctr" anchorCtr="1"/>
        <a:lstStyle/>
        <a:p>
          <a:pPr>
            <a:defRPr sz="1600" b="1" i="0" u="none" strike="noStrike" kern="1200" cap="all" spc="50" baseline="0">
              <a:solidFill>
                <a:schemeClr val="tx1"/>
              </a:solidFill>
              <a:latin typeface="+mn-lt"/>
              <a:ea typeface="+mn-ea"/>
              <a:cs typeface="+mn-cs"/>
            </a:defRPr>
          </a:pPr>
          <a:endParaRPr lang="en-US"/>
        </a:p>
      </c:txPr>
    </c:title>
    <c:autoTitleDeleted val="0"/>
    <c:pivotFmts>
      <c:pivotFmt>
        <c:idx val="0"/>
        <c:dLbl>
          <c:idx val="0"/>
          <c:showLegendKey val="0"/>
          <c:showVal val="1"/>
          <c:showCatName val="0"/>
          <c:showSerName val="0"/>
          <c:showPercent val="0"/>
          <c:showBubbleSize val="0"/>
          <c:extLst>
            <c:ext xmlns:c15="http://schemas.microsoft.com/office/drawing/2012/chart" uri="{CE6537A1-D6FC-4f65-9D91-7224C49458BB}"/>
          </c:extLst>
        </c:dLbl>
      </c:pivotFmt>
      <c:pivotFmt>
        <c:idx val="1"/>
        <c:dLbl>
          <c:idx val="0"/>
          <c:showLegendKey val="0"/>
          <c:showVal val="1"/>
          <c:showCatName val="0"/>
          <c:showSerName val="0"/>
          <c:showPercent val="0"/>
          <c:showBubbleSize val="0"/>
          <c:extLst>
            <c:ext xmlns:c15="http://schemas.microsoft.com/office/drawing/2012/chart" uri="{CE6537A1-D6FC-4f65-9D91-7224C49458BB}"/>
          </c:extLst>
        </c:dLbl>
      </c:pivotFmt>
      <c:pivotFmt>
        <c:idx val="2"/>
        <c:dLbl>
          <c:idx val="0"/>
          <c:showLegendKey val="0"/>
          <c:showVal val="1"/>
          <c:showCatName val="0"/>
          <c:showSerName val="0"/>
          <c:showPercent val="0"/>
          <c:showBubbleSize val="0"/>
          <c:extLst>
            <c:ext xmlns:c15="http://schemas.microsoft.com/office/drawing/2012/chart" uri="{CE6537A1-D6FC-4f65-9D91-7224C49458BB}"/>
          </c:extLst>
        </c:dLbl>
      </c:pivotFmt>
      <c:pivotFmt>
        <c:idx val="3"/>
        <c:dLbl>
          <c:idx val="0"/>
          <c:showLegendKey val="0"/>
          <c:showVal val="1"/>
          <c:showCatName val="0"/>
          <c:showSerName val="0"/>
          <c:showPercent val="0"/>
          <c:showBubbleSize val="0"/>
          <c:extLst>
            <c:ext xmlns:c15="http://schemas.microsoft.com/office/drawing/2012/chart" uri="{CE6537A1-D6FC-4f65-9D91-7224C49458BB}"/>
          </c:extLst>
        </c:dLbl>
      </c:pivotFmt>
      <c:pivotFmt>
        <c:idx val="4"/>
        <c:spPr>
          <a:gradFill flip="none" rotWithShape="1">
            <a:gsLst>
              <a:gs pos="100000">
                <a:schemeClr val="accent1">
                  <a:alpha val="0"/>
                </a:schemeClr>
              </a:gs>
              <a:gs pos="50000">
                <a:schemeClr val="accent1"/>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gradFill flip="none" rotWithShape="1">
            <a:gsLst>
              <a:gs pos="100000">
                <a:schemeClr val="accent1">
                  <a:alpha val="0"/>
                </a:schemeClr>
              </a:gs>
              <a:gs pos="50000">
                <a:schemeClr val="accent1"/>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gradFill flip="none" rotWithShape="1">
            <a:gsLst>
              <a:gs pos="100000">
                <a:schemeClr val="accent1">
                  <a:alpha val="0"/>
                </a:schemeClr>
              </a:gs>
              <a:gs pos="50000">
                <a:schemeClr val="accent1"/>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6759120734908137"/>
          <c:y val="0.18607630567918138"/>
          <c:w val="0.71831179369546261"/>
          <c:h val="0.31617337141033469"/>
        </c:manualLayout>
      </c:layout>
      <c:bar3DChart>
        <c:barDir val="col"/>
        <c:grouping val="clustered"/>
        <c:varyColors val="0"/>
        <c:ser>
          <c:idx val="0"/>
          <c:order val="0"/>
          <c:tx>
            <c:v>Series1</c:v>
          </c:tx>
          <c:spPr>
            <a:gradFill>
              <a:gsLst>
                <a:gs pos="100000">
                  <a:schemeClr val="accent1">
                    <a:alpha val="0"/>
                  </a:schemeClr>
                </a:gs>
                <a:gs pos="50000">
                  <a:schemeClr val="accent1"/>
                </a:gs>
              </a:gsLst>
              <a:lin ang="5400000" scaled="0"/>
            </a:gra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Lit>
              <c:formatCode>General</c:formatCode>
              <c:ptCount val="8"/>
              <c:pt idx="0">
                <c:v>1</c:v>
              </c:pt>
              <c:pt idx="1">
                <c:v>2</c:v>
              </c:pt>
              <c:pt idx="2">
                <c:v>3</c:v>
              </c:pt>
              <c:pt idx="3">
                <c:v>4</c:v>
              </c:pt>
              <c:pt idx="4">
                <c:v>5</c:v>
              </c:pt>
              <c:pt idx="5">
                <c:v>6</c:v>
              </c:pt>
              <c:pt idx="6">
                <c:v>7</c:v>
              </c:pt>
              <c:pt idx="7">
                <c:v>8</c:v>
              </c:pt>
            </c:numLit>
          </c:cat>
          <c:val>
            <c:numLit>
              <c:formatCode>General</c:formatCode>
              <c:ptCount val="8"/>
              <c:pt idx="0">
                <c:v>1567</c:v>
              </c:pt>
              <c:pt idx="1">
                <c:v>1568</c:v>
              </c:pt>
              <c:pt idx="2">
                <c:v>1558</c:v>
              </c:pt>
              <c:pt idx="3">
                <c:v>1591</c:v>
              </c:pt>
              <c:pt idx="4">
                <c:v>1588</c:v>
              </c:pt>
              <c:pt idx="5">
                <c:v>1591</c:v>
              </c:pt>
              <c:pt idx="6">
                <c:v>1584</c:v>
              </c:pt>
              <c:pt idx="7">
                <c:v>1528</c:v>
              </c:pt>
            </c:numLit>
          </c:val>
          <c:extLst>
            <c:ext xmlns:c16="http://schemas.microsoft.com/office/drawing/2014/chart" uri="{C3380CC4-5D6E-409C-BE32-E72D297353CC}">
              <c16:uniqueId val="{00000000-F0E3-4119-B315-478CDFDA03FB}"/>
            </c:ext>
          </c:extLst>
        </c:ser>
        <c:dLbls>
          <c:showLegendKey val="0"/>
          <c:showVal val="1"/>
          <c:showCatName val="0"/>
          <c:showSerName val="0"/>
          <c:showPercent val="0"/>
          <c:showBubbleSize val="0"/>
        </c:dLbls>
        <c:gapWidth val="150"/>
        <c:gapDepth val="0"/>
        <c:shape val="box"/>
        <c:axId val="34286863"/>
        <c:axId val="34624991"/>
        <c:axId val="0"/>
      </c:bar3DChart>
      <c:catAx>
        <c:axId val="34286863"/>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624991"/>
        <c:crosses val="autoZero"/>
        <c:auto val="1"/>
        <c:lblAlgn val="ctr"/>
        <c:lblOffset val="100"/>
        <c:noMultiLvlLbl val="0"/>
      </c:catAx>
      <c:valAx>
        <c:axId val="34624991"/>
        <c:scaling>
          <c:orientation val="minMax"/>
        </c:scaling>
        <c:delete val="0"/>
        <c:axPos val="l"/>
        <c:majorGridlines>
          <c:spPr>
            <a:ln w="9525" cap="flat" cmpd="sng" algn="ctr">
              <a:solidFill>
                <a:schemeClr val="tx1">
                  <a:lumMod val="5000"/>
                  <a:lumOff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286863"/>
        <c:crosses val="autoZero"/>
        <c:crossBetween val="between"/>
      </c:valAx>
      <c:spPr>
        <a:noFill/>
        <a:ln>
          <a:noFill/>
        </a:ln>
        <a:effectLst/>
      </c:spPr>
    </c:plotArea>
    <c:legend>
      <c:legendPos val="r"/>
      <c:layout>
        <c:manualLayout>
          <c:xMode val="edge"/>
          <c:yMode val="edge"/>
          <c:x val="0.85895411751005535"/>
          <c:y val="0.40253083989501315"/>
          <c:w val="9.5539625379592055E-2"/>
          <c:h val="7.0312992125984256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solidFill>
                  <a:schemeClr val="tx1">
                    <a:lumMod val="95000"/>
                    <a:lumOff val="5000"/>
                  </a:schemeClr>
                </a:solidFill>
              </a:rPr>
              <a:t>MONTHLY</a:t>
            </a:r>
            <a:r>
              <a:rPr lang="en-US" baseline="0">
                <a:solidFill>
                  <a:schemeClr val="tx1">
                    <a:lumMod val="95000"/>
                    <a:lumOff val="5000"/>
                  </a:schemeClr>
                </a:solidFill>
              </a:rPr>
              <a:t> SALES TREND</a:t>
            </a:r>
            <a:endParaRPr lang="en-US">
              <a:solidFill>
                <a:schemeClr val="tx1">
                  <a:lumMod val="95000"/>
                  <a:lumOff val="5000"/>
                </a:schemeClr>
              </a:solidFill>
            </a:endParaRP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5891007045171984"/>
          <c:y val="0.17218125023104505"/>
          <c:w val="0.6854751264200083"/>
          <c:h val="0.65875105072650231"/>
        </c:manualLayout>
      </c:layout>
      <c:lineChart>
        <c:grouping val="standard"/>
        <c:varyColors val="0"/>
        <c:ser>
          <c:idx val="0"/>
          <c:order val="0"/>
          <c:tx>
            <c:v>Series1</c:v>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cat>
            <c:numLit>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Lit>
          </c:cat>
          <c:val>
            <c:numLit>
              <c:formatCode>General</c:formatCode>
              <c:ptCount val="12"/>
              <c:pt idx="0">
                <c:v>1361</c:v>
              </c:pt>
              <c:pt idx="1">
                <c:v>965</c:v>
              </c:pt>
              <c:pt idx="2">
                <c:v>1019</c:v>
              </c:pt>
              <c:pt idx="3">
                <c:v>996</c:v>
              </c:pt>
              <c:pt idx="4">
                <c:v>1033</c:v>
              </c:pt>
              <c:pt idx="5">
                <c:v>1038</c:v>
              </c:pt>
              <c:pt idx="6">
                <c:v>1089</c:v>
              </c:pt>
              <c:pt idx="7">
                <c:v>1039</c:v>
              </c:pt>
              <c:pt idx="8">
                <c:v>1021</c:v>
              </c:pt>
              <c:pt idx="9">
                <c:v>978</c:v>
              </c:pt>
              <c:pt idx="10">
                <c:v>1003</c:v>
              </c:pt>
              <c:pt idx="11">
                <c:v>1033</c:v>
              </c:pt>
            </c:numLit>
          </c:val>
          <c:smooth val="0"/>
          <c:extLst>
            <c:ext xmlns:c16="http://schemas.microsoft.com/office/drawing/2014/chart" uri="{C3380CC4-5D6E-409C-BE32-E72D297353CC}">
              <c16:uniqueId val="{00000000-5A19-4349-A3A2-00DE8B5E7F8D}"/>
            </c:ext>
          </c:extLst>
        </c:ser>
        <c:dLbls>
          <c:showLegendKey val="0"/>
          <c:showVal val="0"/>
          <c:showCatName val="0"/>
          <c:showSerName val="0"/>
          <c:showPercent val="0"/>
          <c:showBubbleSize val="0"/>
        </c:dLbls>
        <c:marker val="1"/>
        <c:smooth val="0"/>
        <c:axId val="657506864"/>
        <c:axId val="657504464"/>
      </c:lineChart>
      <c:catAx>
        <c:axId val="65750686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7504464"/>
        <c:crosses val="autoZero"/>
        <c:auto val="1"/>
        <c:lblAlgn val="ctr"/>
        <c:lblOffset val="100"/>
        <c:noMultiLvlLbl val="0"/>
      </c:catAx>
      <c:valAx>
        <c:axId val="6575044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7506864"/>
        <c:crosses val="autoZero"/>
        <c:crossBetween val="between"/>
      </c:valAx>
      <c:spPr>
        <a:noFill/>
        <a:ln>
          <a:noFill/>
        </a:ln>
        <a:effectLst/>
      </c:spPr>
    </c:plotArea>
    <c:legend>
      <c:legendPos val="r"/>
      <c:layout>
        <c:manualLayout>
          <c:xMode val="edge"/>
          <c:yMode val="edge"/>
          <c:x val="0.82076834990220815"/>
          <c:y val="0.4064810526135213"/>
          <c:w val="0.15349162435776609"/>
          <c:h val="9.1912408007822549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en-US" sz="1600" b="1">
                <a:solidFill>
                  <a:schemeClr val="tx1"/>
                </a:solidFill>
              </a:rPr>
              <a:t>PAYMENT</a:t>
            </a:r>
            <a:r>
              <a:rPr lang="en-US" sz="1600" b="1" baseline="0">
                <a:solidFill>
                  <a:schemeClr val="tx1"/>
                </a:solidFill>
              </a:rPr>
              <a:t> METHOD</a:t>
            </a:r>
            <a:endParaRPr lang="en-US" sz="1600" b="1">
              <a:solidFill>
                <a:schemeClr val="tx1"/>
              </a:solidFill>
            </a:endParaRP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2"/>
          </a:solidFill>
          <a:ln w="19050">
            <a:solidFill>
              <a:schemeClr val="lt1"/>
            </a:solidFill>
          </a:ln>
          <a:effectLst/>
        </c:spPr>
        <c:dLbl>
          <c:idx val="0"/>
          <c:layout>
            <c:manualLayout>
              <c:x val="1.3506999125109361E-2"/>
              <c:y val="-0.21842155147273257"/>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3"/>
          </a:solidFill>
          <a:ln w="19050">
            <a:solidFill>
              <a:schemeClr val="lt1"/>
            </a:solidFill>
          </a:ln>
          <a:effectLst/>
        </c:spPr>
        <c:dLbl>
          <c:idx val="0"/>
          <c:layout>
            <c:manualLayout>
              <c:x val="0.18685301837270335"/>
              <c:y val="0.14068241469816273"/>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solidFill>
            <a:schemeClr val="accent1"/>
          </a:solidFill>
          <a:ln w="19050">
            <a:solidFill>
              <a:schemeClr val="lt1"/>
            </a:solidFill>
          </a:ln>
          <a:effectLst/>
        </c:spPr>
        <c:dLbl>
          <c:idx val="0"/>
          <c:layout>
            <c:manualLayout>
              <c:x val="-0.16279615048118984"/>
              <c:y val="0.11830016039661709"/>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1"/>
          </a:solidFill>
          <a:ln w="19050">
            <a:solidFill>
              <a:schemeClr val="lt1"/>
            </a:solidFill>
          </a:ln>
          <a:effectLst/>
        </c:spPr>
        <c:dLbl>
          <c:idx val="0"/>
          <c:layout>
            <c:manualLayout>
              <c:x val="-0.16279615048118984"/>
              <c:y val="0.11830016039661709"/>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6"/>
        <c:spPr>
          <a:solidFill>
            <a:schemeClr val="accent1"/>
          </a:solidFill>
          <a:ln w="19050">
            <a:solidFill>
              <a:schemeClr val="lt1"/>
            </a:solidFill>
          </a:ln>
          <a:effectLst/>
        </c:spPr>
        <c:dLbl>
          <c:idx val="0"/>
          <c:layout>
            <c:manualLayout>
              <c:x val="1.3506999125109361E-2"/>
              <c:y val="-0.21842155147273257"/>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7"/>
        <c:spPr>
          <a:solidFill>
            <a:schemeClr val="accent1"/>
          </a:solidFill>
          <a:ln w="19050">
            <a:solidFill>
              <a:schemeClr val="lt1"/>
            </a:solidFill>
          </a:ln>
          <a:effectLst/>
        </c:spPr>
        <c:dLbl>
          <c:idx val="0"/>
          <c:layout>
            <c:manualLayout>
              <c:x val="0.18685301837270335"/>
              <c:y val="0.14068241469816273"/>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9"/>
        <c:spPr>
          <a:solidFill>
            <a:schemeClr val="accent1"/>
          </a:solidFill>
          <a:ln w="19050">
            <a:solidFill>
              <a:schemeClr val="lt1"/>
            </a:solidFill>
          </a:ln>
          <a:effectLst/>
        </c:spPr>
        <c:dLbl>
          <c:idx val="0"/>
          <c:layout>
            <c:manualLayout>
              <c:x val="-0.16279615048118984"/>
              <c:y val="0.11830016039661709"/>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0"/>
        <c:spPr>
          <a:solidFill>
            <a:schemeClr val="accent1"/>
          </a:solidFill>
          <a:ln w="19050">
            <a:solidFill>
              <a:schemeClr val="lt1"/>
            </a:solidFill>
          </a:ln>
          <a:effectLst/>
        </c:spPr>
        <c:dLbl>
          <c:idx val="0"/>
          <c:layout>
            <c:manualLayout>
              <c:x val="1.3506999125109361E-2"/>
              <c:y val="-0.21842155147273257"/>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chemeClr val="accent1"/>
          </a:solidFill>
          <a:ln w="19050">
            <a:solidFill>
              <a:schemeClr val="lt1"/>
            </a:solidFill>
          </a:ln>
          <a:effectLst/>
        </c:spPr>
        <c:dLbl>
          <c:idx val="0"/>
          <c:layout>
            <c:manualLayout>
              <c:x val="0.18685301837270335"/>
              <c:y val="0.14068241469816273"/>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solidFill>
            <a:schemeClr val="accent1"/>
          </a:solidFill>
          <a:ln w="19050">
            <a:solidFill>
              <a:schemeClr val="lt1"/>
            </a:solidFill>
          </a:ln>
          <a:effectLst/>
        </c:spPr>
        <c:dLbl>
          <c:idx val="0"/>
          <c:layout>
            <c:manualLayout>
              <c:x val="-0.16279615048118984"/>
              <c:y val="0.11830016039661709"/>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1"/>
          </a:solidFill>
          <a:ln w="19050">
            <a:solidFill>
              <a:schemeClr val="lt1"/>
            </a:solidFill>
          </a:ln>
          <a:effectLst/>
        </c:spPr>
        <c:dLbl>
          <c:idx val="0"/>
          <c:layout>
            <c:manualLayout>
              <c:x val="1.3506999125109361E-2"/>
              <c:y val="-0.21842155147273257"/>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5"/>
        <c:spPr>
          <a:solidFill>
            <a:schemeClr val="accent1"/>
          </a:solidFill>
          <a:ln w="19050">
            <a:solidFill>
              <a:schemeClr val="lt1"/>
            </a:solidFill>
          </a:ln>
          <a:effectLst/>
        </c:spPr>
        <c:dLbl>
          <c:idx val="0"/>
          <c:layout>
            <c:manualLayout>
              <c:x val="0.18685301837270335"/>
              <c:y val="0.14068241469816273"/>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6"/>
        <c:spPr>
          <a:solidFill>
            <a:schemeClr val="accent1"/>
          </a:solidFill>
          <a:ln w="19050">
            <a:solidFill>
              <a:schemeClr val="lt1"/>
            </a:solidFill>
          </a:ln>
          <a:effectLst/>
        </c:spPr>
        <c:marker>
          <c:symbol val="none"/>
        </c:marker>
        <c:dLbl>
          <c:idx val="0"/>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7"/>
        <c:spPr>
          <a:solidFill>
            <a:schemeClr val="accent1"/>
          </a:solidFill>
          <a:ln w="19050">
            <a:solidFill>
              <a:schemeClr val="lt1"/>
            </a:solidFill>
          </a:ln>
          <a:effectLst/>
        </c:spPr>
        <c:dLbl>
          <c:idx val="0"/>
          <c:layout>
            <c:manualLayout>
              <c:x val="-0.16279615048118984"/>
              <c:y val="0.11830016039661709"/>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8"/>
        <c:spPr>
          <a:solidFill>
            <a:schemeClr val="accent1"/>
          </a:solidFill>
          <a:ln w="19050">
            <a:solidFill>
              <a:schemeClr val="lt1"/>
            </a:solidFill>
          </a:ln>
          <a:effectLst/>
        </c:spPr>
        <c:dLbl>
          <c:idx val="0"/>
          <c:layout>
            <c:manualLayout>
              <c:x val="1.3506999125109361E-2"/>
              <c:y val="-0.21842155147273257"/>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9"/>
        <c:spPr>
          <a:solidFill>
            <a:schemeClr val="accent1"/>
          </a:solidFill>
          <a:ln w="19050">
            <a:solidFill>
              <a:schemeClr val="lt1"/>
            </a:solidFill>
          </a:ln>
          <a:effectLst/>
        </c:spPr>
        <c:dLbl>
          <c:idx val="0"/>
          <c:layout>
            <c:manualLayout>
              <c:x val="0.18685301837270335"/>
              <c:y val="0.14068241469816273"/>
            </c:manualLayout>
          </c:layout>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pieChart>
        <c:varyColors val="1"/>
        <c:ser>
          <c:idx val="0"/>
          <c:order val="0"/>
          <c:tx>
            <c:v>Series1</c:v>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638-4C86-98A7-00CF31A1A44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638-4C86-98A7-00CF31A1A44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638-4C86-98A7-00CF31A1A444}"/>
              </c:ext>
            </c:extLst>
          </c:dPt>
          <c:dLbls>
            <c:dLbl>
              <c:idx val="0"/>
              <c:layout>
                <c:manualLayout>
                  <c:x val="-0.16279615048118984"/>
                  <c:y val="0.11830016039661709"/>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638-4C86-98A7-00CF31A1A444}"/>
                </c:ext>
              </c:extLst>
            </c:dLbl>
            <c:dLbl>
              <c:idx val="1"/>
              <c:layout>
                <c:manualLayout>
                  <c:x val="1.3506999125109361E-2"/>
                  <c:y val="-0.21842155147273257"/>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638-4C86-98A7-00CF31A1A444}"/>
                </c:ext>
              </c:extLst>
            </c:dLbl>
            <c:dLbl>
              <c:idx val="2"/>
              <c:layout>
                <c:manualLayout>
                  <c:x val="0.18685301837270335"/>
                  <c:y val="0.1406824146981627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638-4C86-98A7-00CF31A1A444}"/>
                </c:ext>
              </c:extLst>
            </c:dLbl>
            <c:spPr>
              <a:no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numLit>
              <c:formatCode>General</c:formatCode>
              <c:ptCount val="3"/>
              <c:pt idx="0">
                <c:v>0</c:v>
              </c:pt>
              <c:pt idx="1">
                <c:v>0</c:v>
              </c:pt>
              <c:pt idx="2">
                <c:v>0</c:v>
              </c:pt>
            </c:numLit>
          </c:cat>
          <c:val>
            <c:numLit>
              <c:formatCode>General</c:formatCode>
              <c:ptCount val="3"/>
              <c:pt idx="0">
                <c:v>4310</c:v>
              </c:pt>
              <c:pt idx="1">
                <c:v>4121</c:v>
              </c:pt>
              <c:pt idx="2">
                <c:v>4144</c:v>
              </c:pt>
            </c:numLit>
          </c:val>
          <c:extLst>
            <c:ext xmlns:c16="http://schemas.microsoft.com/office/drawing/2014/chart" uri="{C3380CC4-5D6E-409C-BE32-E72D297353CC}">
              <c16:uniqueId val="{00000006-4638-4C86-98A7-00CF31A1A444}"/>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IN"/>
              <a:t>SALES</a:t>
            </a:r>
            <a:r>
              <a:rPr lang="en-IN" baseline="0"/>
              <a:t> BY LOCATION</a:t>
            </a:r>
            <a:endParaRPr lang="en-IN"/>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IN"/>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solidFill>
              <a:schemeClr val="accent1"/>
            </a:solidFill>
          </a:ln>
          <a:effectLst/>
        </c:spPr>
        <c:marker>
          <c:symbol val="none"/>
        </c:marker>
        <c:dLbl>
          <c:idx val="0"/>
          <c:spPr>
            <a:solidFill>
              <a:schemeClr val="accent2"/>
            </a:solidFill>
            <a:ln w="19050" cap="flat" cmpd="sng" algn="ctr">
              <a:solidFill>
                <a:schemeClr val="accent2"/>
              </a:solidFill>
              <a:prstDash val="solid"/>
              <a:miter lim="800000"/>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solidFill>
              <a:schemeClr val="accent1"/>
            </a:solidFill>
          </a:ln>
          <a:effectLst/>
        </c:spPr>
        <c:dLbl>
          <c:idx val="0"/>
          <c:spPr>
            <a:solidFill>
              <a:schemeClr val="accent1"/>
            </a:solidFill>
            <a:ln w="19050" cap="flat" cmpd="sng" algn="ctr">
              <a:solidFill>
                <a:schemeClr val="accent1"/>
              </a:solidFill>
              <a:prstDash val="solid"/>
              <a:miter lim="800000"/>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solidFill>
              <a:schemeClr val="accent2"/>
            </a:solidFill>
          </a:ln>
          <a:effectLst/>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solidFill>
              <a:schemeClr val="accent1"/>
            </a:solidFill>
          </a:ln>
          <a:effectLst/>
        </c:spPr>
        <c:marker>
          <c:symbol val="none"/>
        </c:marker>
        <c:dLbl>
          <c:idx val="0"/>
          <c:spPr>
            <a:solidFill>
              <a:schemeClr val="accent2"/>
            </a:solidFill>
            <a:ln w="19050" cap="flat" cmpd="sng" algn="ctr">
              <a:solidFill>
                <a:schemeClr val="accent2"/>
              </a:solidFill>
              <a:prstDash val="solid"/>
              <a:miter lim="800000"/>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solidFill>
              <a:schemeClr val="accent1"/>
            </a:solidFill>
          </a:ln>
          <a:effectLst/>
        </c:spPr>
        <c:dLbl>
          <c:idx val="0"/>
          <c:spPr>
            <a:solidFill>
              <a:schemeClr val="accent1"/>
            </a:solidFill>
            <a:ln w="19050" cap="flat" cmpd="sng" algn="ctr">
              <a:solidFill>
                <a:schemeClr val="accent1"/>
              </a:solidFill>
              <a:prstDash val="solid"/>
              <a:miter lim="800000"/>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solidFill>
              <a:schemeClr val="accent2"/>
            </a:solidFill>
          </a:ln>
          <a:effectLst/>
        </c:spPr>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solidFill>
              <a:schemeClr val="accent1"/>
            </a:solidFill>
          </a:ln>
          <a:effectLst/>
        </c:spPr>
        <c:marker>
          <c:symbol val="none"/>
        </c:marker>
        <c:dLbl>
          <c:idx val="0"/>
          <c:spPr>
            <a:solidFill>
              <a:schemeClr val="accent2"/>
            </a:solidFill>
            <a:ln w="19050" cap="flat" cmpd="sng" algn="ctr">
              <a:solidFill>
                <a:schemeClr val="accent2"/>
              </a:solidFill>
              <a:prstDash val="solid"/>
              <a:miter lim="800000"/>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solidFill>
              <a:schemeClr val="accent1"/>
            </a:solidFill>
          </a:ln>
          <a:effectLst/>
        </c:spPr>
        <c:dLbl>
          <c:idx val="0"/>
          <c:spPr>
            <a:solidFill>
              <a:schemeClr val="accent1"/>
            </a:solidFill>
            <a:ln w="19050" cap="flat" cmpd="sng" algn="ctr">
              <a:solidFill>
                <a:schemeClr val="accent1"/>
              </a:solidFill>
              <a:prstDash val="solid"/>
              <a:miter lim="800000"/>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solidFill>
              <a:schemeClr val="accent2"/>
            </a:solidFill>
          </a:ln>
          <a:effectLst/>
        </c:spPr>
      </c:pivotFmt>
    </c:pivotFmts>
    <c:plotArea>
      <c:layout>
        <c:manualLayout>
          <c:layoutTarget val="inner"/>
          <c:xMode val="edge"/>
          <c:yMode val="edge"/>
          <c:x val="0.25512271017669186"/>
          <c:y val="0.27084281131525229"/>
          <c:w val="0.32571123197229213"/>
          <c:h val="0.58507387965393209"/>
        </c:manualLayout>
      </c:layout>
      <c:doughnutChart>
        <c:varyColors val="1"/>
        <c:ser>
          <c:idx val="0"/>
          <c:order val="0"/>
          <c:tx>
            <c:v>Series1</c:v>
          </c:tx>
          <c:spPr>
            <a:ln>
              <a:solidFill>
                <a:schemeClr val="accent1"/>
              </a:solidFill>
            </a:ln>
          </c:spPr>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solidFill>
                  <a:schemeClr val="accent1"/>
                </a:solidFill>
              </a:ln>
              <a:effectLst/>
            </c:spPr>
            <c:extLst>
              <c:ext xmlns:c16="http://schemas.microsoft.com/office/drawing/2014/chart" uri="{C3380CC4-5D6E-409C-BE32-E72D297353CC}">
                <c16:uniqueId val="{00000001-BA56-4F9D-A369-A8E1CCC15F8E}"/>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solidFill>
                  <a:schemeClr val="accent2"/>
                </a:solidFill>
              </a:ln>
              <a:effectLst/>
            </c:spPr>
            <c:extLst>
              <c:ext xmlns:c16="http://schemas.microsoft.com/office/drawing/2014/chart" uri="{C3380CC4-5D6E-409C-BE32-E72D297353CC}">
                <c16:uniqueId val="{00000003-BA56-4F9D-A369-A8E1CCC15F8E}"/>
              </c:ext>
            </c:extLst>
          </c:dPt>
          <c:dLbls>
            <c:dLbl>
              <c:idx val="0"/>
              <c:spPr>
                <a:solidFill>
                  <a:schemeClr val="accent1"/>
                </a:solidFill>
                <a:ln w="19050" cap="flat" cmpd="sng" algn="ctr">
                  <a:solidFill>
                    <a:schemeClr val="accent1"/>
                  </a:solidFill>
                  <a:prstDash val="solid"/>
                  <a:miter lim="800000"/>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BA56-4F9D-A369-A8E1CCC15F8E}"/>
                </c:ext>
              </c:extLst>
            </c:dLbl>
            <c:spPr>
              <a:solidFill>
                <a:schemeClr val="accent2"/>
              </a:solidFill>
              <a:ln w="19050" cap="flat" cmpd="sng" algn="ctr">
                <a:solidFill>
                  <a:schemeClr val="accent2"/>
                </a:solidFill>
                <a:prstDash val="solid"/>
                <a:miter lim="800000"/>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numLit>
              <c:formatCode>General</c:formatCode>
              <c:ptCount val="2"/>
              <c:pt idx="0">
                <c:v>0</c:v>
              </c:pt>
              <c:pt idx="1">
                <c:v>0</c:v>
              </c:pt>
            </c:numLit>
          </c:cat>
          <c:val>
            <c:numLit>
              <c:formatCode>General</c:formatCode>
              <c:ptCount val="2"/>
              <c:pt idx="0">
                <c:v>6221</c:v>
              </c:pt>
              <c:pt idx="1">
                <c:v>6354</c:v>
              </c:pt>
            </c:numLit>
          </c:val>
          <c:extLst>
            <c:ext xmlns:c16="http://schemas.microsoft.com/office/drawing/2014/chart" uri="{C3380CC4-5D6E-409C-BE32-E72D297353CC}">
              <c16:uniqueId val="{00000004-BA56-4F9D-A369-A8E1CCC15F8E}"/>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legendEntry>
        <c:idx val="0"/>
        <c:txPr>
          <a:bodyPr rot="0" spcFirstLastPara="1" vertOverflow="ellipsis" vert="horz" wrap="square" anchor="ctr" anchorCtr="1"/>
          <a:lstStyle/>
          <a:p>
            <a:pPr>
              <a:defRPr sz="1050" b="0" i="0" u="none" strike="noStrike" kern="1200" baseline="0">
                <a:solidFill>
                  <a:schemeClr val="tx2"/>
                </a:solidFill>
                <a:latin typeface="+mn-lt"/>
                <a:ea typeface="+mn-ea"/>
                <a:cs typeface="+mn-cs"/>
              </a:defRPr>
            </a:pPr>
            <a:endParaRPr lang="en-US"/>
          </a:p>
        </c:txPr>
      </c:legendEntry>
      <c:legendEntry>
        <c:idx val="1"/>
        <c:txPr>
          <a:bodyPr rot="0" spcFirstLastPara="1" vertOverflow="ellipsis" vert="horz" wrap="square" anchor="ctr" anchorCtr="1"/>
          <a:lstStyle/>
          <a:p>
            <a:pPr>
              <a:defRPr sz="1100" b="0" i="0" u="none" strike="noStrike" kern="1200" baseline="0">
                <a:solidFill>
                  <a:schemeClr val="tx2"/>
                </a:solidFill>
                <a:latin typeface="+mn-lt"/>
                <a:ea typeface="+mn-ea"/>
                <a:cs typeface="+mn-cs"/>
              </a:defRPr>
            </a:pPr>
            <a:endParaRPr lang="en-US"/>
          </a:p>
        </c:txPr>
      </c:legendEntry>
      <c:layout>
        <c:manualLayout>
          <c:xMode val="edge"/>
          <c:yMode val="edge"/>
          <c:x val="0.81535911326082666"/>
          <c:y val="0.38040598393342234"/>
          <c:w val="0.13292183926556733"/>
          <c:h val="0.1533093020239394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solidFill>
                  <a:schemeClr val="tx1">
                    <a:lumMod val="95000"/>
                    <a:lumOff val="5000"/>
                  </a:schemeClr>
                </a:solidFill>
              </a:rPr>
              <a:t>TOP</a:t>
            </a:r>
            <a:r>
              <a:rPr lang="en-US" baseline="0">
                <a:solidFill>
                  <a:schemeClr val="tx1">
                    <a:lumMod val="95000"/>
                    <a:lumOff val="5000"/>
                  </a:schemeClr>
                </a:solidFill>
              </a:rPr>
              <a:t> PRODUCTS</a:t>
            </a:r>
            <a:endParaRPr lang="en-US">
              <a:solidFill>
                <a:schemeClr val="tx1">
                  <a:lumMod val="95000"/>
                  <a:lumOff val="5000"/>
                </a:schemeClr>
              </a:solidFill>
            </a:endParaRP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tx2">
              <a:lumMod val="75000"/>
              <a:lumOff val="25000"/>
            </a:schemeClr>
          </a:solidFill>
          <a:ln>
            <a:noFill/>
          </a:ln>
          <a:effectLst>
            <a:outerShdw blurRad="57150" dist="19050" dir="5400000" algn="ctr" rotWithShape="0">
              <a:srgbClr val="000000">
                <a:alpha val="63000"/>
              </a:srgbClr>
            </a:outerShdw>
          </a:effectLst>
        </c:spPr>
        <c:marker>
          <c:symbol val="diamond"/>
          <c:size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tx2">
              <a:lumMod val="75000"/>
              <a:lumOff val="25000"/>
            </a:schemeClr>
          </a:solidFill>
          <a:ln>
            <a:noFill/>
          </a:ln>
          <a:effectLst>
            <a:outerShdw blurRad="57150" dist="19050" dir="5400000" algn="ctr" rotWithShape="0">
              <a:srgbClr val="000000">
                <a:alpha val="63000"/>
              </a:srgbClr>
            </a:outerShdw>
          </a:effectLst>
        </c:spPr>
      </c:pivotFmt>
      <c:pivotFmt>
        <c:idx val="2"/>
        <c:spPr>
          <a:solidFill>
            <a:schemeClr val="tx2">
              <a:lumMod val="75000"/>
              <a:lumOff val="25000"/>
            </a:schemeClr>
          </a:solidFill>
          <a:ln>
            <a:noFill/>
          </a:ln>
          <a:effectLst>
            <a:outerShdw blurRad="57150" dist="19050" dir="5400000" algn="ctr" rotWithShape="0">
              <a:srgbClr val="000000">
                <a:alpha val="63000"/>
              </a:srgbClr>
            </a:outerShdw>
          </a:effectLst>
        </c:spPr>
      </c:pivotFmt>
      <c:pivotFmt>
        <c:idx val="3"/>
        <c:spPr>
          <a:solidFill>
            <a:schemeClr val="tx2">
              <a:lumMod val="75000"/>
              <a:lumOff val="25000"/>
            </a:schemeClr>
          </a:solidFill>
          <a:ln>
            <a:noFill/>
          </a:ln>
          <a:effectLst>
            <a:outerShdw blurRad="57150" dist="19050" dir="5400000" algn="ctr" rotWithShape="0">
              <a:srgbClr val="000000">
                <a:alpha val="63000"/>
              </a:srgbClr>
            </a:outerShdw>
          </a:effectLst>
        </c:spPr>
      </c:pivotFmt>
      <c:pivotFmt>
        <c:idx val="4"/>
        <c:spPr>
          <a:solidFill>
            <a:schemeClr val="tx2">
              <a:lumMod val="75000"/>
              <a:lumOff val="25000"/>
            </a:schemeClr>
          </a:soli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tx2">
              <a:lumMod val="75000"/>
              <a:lumOff val="25000"/>
            </a:schemeClr>
          </a:soli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tx2">
              <a:lumMod val="75000"/>
              <a:lumOff val="25000"/>
            </a:schemeClr>
          </a:soli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tx2">
              <a:lumMod val="75000"/>
              <a:lumOff val="25000"/>
            </a:schemeClr>
          </a:soli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3529757155116607"/>
          <c:y val="0.18224675291794312"/>
          <c:w val="0.65301115485564309"/>
          <c:h val="0.70993839311752693"/>
        </c:manualLayout>
      </c:layout>
      <c:barChart>
        <c:barDir val="bar"/>
        <c:grouping val="clustered"/>
        <c:varyColors val="0"/>
        <c:ser>
          <c:idx val="0"/>
          <c:order val="0"/>
          <c:tx>
            <c:v>Series1</c:v>
          </c:tx>
          <c:spPr>
            <a:solidFill>
              <a:schemeClr val="tx2">
                <a:lumMod val="75000"/>
                <a:lumOff val="25000"/>
              </a:schemeClr>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6"/>
              <c:pt idx="0">
                <c:v>1</c:v>
              </c:pt>
              <c:pt idx="1">
                <c:v>2</c:v>
              </c:pt>
              <c:pt idx="2">
                <c:v>3</c:v>
              </c:pt>
              <c:pt idx="3">
                <c:v>4</c:v>
              </c:pt>
              <c:pt idx="4">
                <c:v>5</c:v>
              </c:pt>
              <c:pt idx="5">
                <c:v>6</c:v>
              </c:pt>
            </c:strLit>
          </c:cat>
          <c:val>
            <c:numLit>
              <c:formatCode>General</c:formatCode>
              <c:ptCount val="6"/>
              <c:pt idx="0">
                <c:v>1213</c:v>
              </c:pt>
              <c:pt idx="1">
                <c:v>126</c:v>
              </c:pt>
              <c:pt idx="2">
                <c:v>113</c:v>
              </c:pt>
              <c:pt idx="3">
                <c:v>110</c:v>
              </c:pt>
              <c:pt idx="4">
                <c:v>109</c:v>
              </c:pt>
              <c:pt idx="5">
                <c:v>109</c:v>
              </c:pt>
            </c:numLit>
          </c:val>
          <c:extLst>
            <c:ext xmlns:c16="http://schemas.microsoft.com/office/drawing/2014/chart" uri="{C3380CC4-5D6E-409C-BE32-E72D297353CC}">
              <c16:uniqueId val="{00000000-4B28-444C-A056-9433E3FC4816}"/>
            </c:ext>
          </c:extLst>
        </c:ser>
        <c:dLbls>
          <c:dLblPos val="outEnd"/>
          <c:showLegendKey val="0"/>
          <c:showVal val="1"/>
          <c:showCatName val="0"/>
          <c:showSerName val="0"/>
          <c:showPercent val="0"/>
          <c:showBubbleSize val="0"/>
        </c:dLbls>
        <c:gapWidth val="115"/>
        <c:overlap val="-20"/>
        <c:axId val="483246944"/>
        <c:axId val="483238304"/>
      </c:barChart>
      <c:catAx>
        <c:axId val="483246944"/>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238304"/>
        <c:crosses val="autoZero"/>
        <c:auto val="1"/>
        <c:lblAlgn val="ctr"/>
        <c:lblOffset val="100"/>
        <c:noMultiLvlLbl val="0"/>
      </c:catAx>
      <c:valAx>
        <c:axId val="4832383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2469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3">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tx1"/>
    </cs:fontRef>
    <cs:spPr>
      <a:gradFill>
        <a:gsLst>
          <a:gs pos="100000">
            <a:schemeClr val="phClr">
              <a:alpha val="0"/>
            </a:schemeClr>
          </a:gs>
          <a:gs pos="50000">
            <a:schemeClr val="phClr"/>
          </a:gs>
        </a:gsLst>
        <a:lin ang="5400000" scaled="0"/>
      </a:gradFill>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tx1">
            <a:lumMod val="5000"/>
            <a:lumOff val="9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5">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3/24/2026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3/24/2026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295017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315543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1015613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1718631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3/24/2026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3/24/2026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3/24/2026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3/24/2026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3/24/2026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3/24/2026</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ahmedmohamed2003/retail-store-sales-dirty-for-data-cleaning"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2734810"/>
            <a:ext cx="9144000" cy="1837189"/>
          </a:xfrm>
        </p:spPr>
        <p:txBody>
          <a:bodyPr/>
          <a:lstStyle/>
          <a:p>
            <a:pPr algn="l"/>
            <a:r>
              <a:rPr lang="en-US" b="1" i="1" dirty="0"/>
              <a:t>Retail Store sales analysis</a:t>
            </a:r>
            <a:br>
              <a:rPr lang="en-US" dirty="0"/>
            </a:br>
            <a:r>
              <a:rPr lang="en-US" sz="2000" b="1" dirty="0"/>
              <a:t>CREATED BY </a:t>
            </a:r>
            <a:r>
              <a:rPr lang="en-US" sz="2000" b="1" i="1" dirty="0"/>
              <a:t>SANJANA BHUJADE</a:t>
            </a:r>
            <a:br>
              <a:rPr lang="en-US" dirty="0">
                <a:solidFill>
                  <a:schemeClr val="tx1"/>
                </a:solidFill>
              </a:rPr>
            </a:br>
            <a:endParaRPr lang="en-US" dirty="0">
              <a:solidFill>
                <a:schemeClr val="tx1"/>
              </a:solidFill>
            </a:endParaRPr>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369117" y="466344"/>
            <a:ext cx="3389151" cy="1710354"/>
          </a:xfrm>
          <a:noFill/>
        </p:spPr>
        <p:txBody>
          <a:bodyPr anchor="ctr"/>
          <a:lstStyle/>
          <a:p>
            <a:r>
              <a:rPr lang="en-US" b="1" dirty="0">
                <a:solidFill>
                  <a:schemeClr val="accent1"/>
                </a:solidFill>
              </a:rPr>
              <a:t>Overview</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243281" y="2097248"/>
            <a:ext cx="11240795" cy="3663472"/>
          </a:xfrm>
          <a:noFill/>
        </p:spPr>
        <p:txBody>
          <a:bodyPr vert="horz" lIns="91440" tIns="45720" rIns="91440" bIns="45720" rtlCol="0" anchor="t">
            <a:normAutofit/>
          </a:bodyPr>
          <a:lstStyle/>
          <a:p>
            <a:r>
              <a:rPr lang="en-US" dirty="0"/>
              <a:t>Dataset Link:-    </a:t>
            </a:r>
            <a:r>
              <a:rPr lang="en-US" dirty="0">
                <a:hlinkClick r:id="rId3"/>
              </a:rPr>
              <a:t>https://www.kaggle.com/datasets/ahmedmohamed2003/retail-store-sales-dirty-for-data-cleaning</a:t>
            </a:r>
            <a:endParaRPr lang="en-US" dirty="0"/>
          </a:p>
          <a:p>
            <a:r>
              <a:rPr lang="en-US" b="1" dirty="0"/>
              <a:t>DATA CLEANING:</a:t>
            </a:r>
          </a:p>
          <a:p>
            <a:r>
              <a:rPr lang="en-US" dirty="0"/>
              <a:t>Removed duplicate records using Transaction ID to ensure data accuracy.</a:t>
            </a:r>
          </a:p>
          <a:p>
            <a:r>
              <a:rPr lang="en-US" dirty="0"/>
              <a:t>Handled missing values in Discount Applied column by replacing them with appropriate values.</a:t>
            </a:r>
          </a:p>
          <a:p>
            <a:r>
              <a:rPr lang="en-US" dirty="0"/>
              <a:t>Converted Transaction Date into proper date format for time- based analysis.</a:t>
            </a:r>
          </a:p>
          <a:p>
            <a:r>
              <a:rPr lang="en-US" dirty="0"/>
              <a:t>Created new features like Month and Year for trend analysis.</a:t>
            </a:r>
          </a:p>
          <a:p>
            <a:r>
              <a:rPr lang="en-US" dirty="0"/>
              <a:t>Verified and corrected calculated fields like Total Spent.</a:t>
            </a:r>
          </a:p>
        </p:txBody>
      </p:sp>
    </p:spTree>
    <p:extLst>
      <p:ext uri="{BB962C8B-B14F-4D97-AF65-F5344CB8AC3E}">
        <p14:creationId xmlns:p14="http://schemas.microsoft.com/office/powerpoint/2010/main" val="366667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close up of computer code">
            <a:extLst>
              <a:ext uri="{FF2B5EF4-FFF2-40B4-BE49-F238E27FC236}">
                <a16:creationId xmlns:a16="http://schemas.microsoft.com/office/drawing/2014/main" id="{94D43AA7-0244-2FEB-86AC-B5DECE0232D8}"/>
              </a:ext>
            </a:extLst>
          </p:cNvPr>
          <p:cNvPicPr>
            <a:picLocks noGrp="1" noChangeAspect="1"/>
          </p:cNvPicPr>
          <p:nvPr>
            <p:ph type="pic" sz="quarter" idx="10"/>
          </p:nvPr>
        </p:nvPicPr>
        <p:blipFill rotWithShape="1">
          <a:blip r:embed="rId3">
            <a:alphaModFix amt="40000"/>
            <a:extLst>
              <a:ext uri="{BEBA8EAE-BF5A-486C-A8C5-ECC9F3942E4B}">
                <a14:imgProps xmlns:a14="http://schemas.microsoft.com/office/drawing/2010/main">
                  <a14:imgLayer r:embed="rId4">
                    <a14:imgEffect>
                      <a14:saturation sat="0"/>
                    </a14:imgEffect>
                  </a14:imgLayer>
                </a14:imgProps>
              </a:ext>
            </a:extLst>
          </a:blip>
          <a:srcRect t="7813" b="7813"/>
          <a:stretch/>
        </p:blipFill>
        <p:spPr>
          <a:xfrm>
            <a:off x="0" y="0"/>
            <a:ext cx="12192000" cy="6858000"/>
          </a:xfrm>
        </p:spPr>
      </p:pic>
      <p:sp>
        <p:nvSpPr>
          <p:cNvPr id="3" name="Title 2">
            <a:extLst>
              <a:ext uri="{FF2B5EF4-FFF2-40B4-BE49-F238E27FC236}">
                <a16:creationId xmlns:a16="http://schemas.microsoft.com/office/drawing/2014/main" id="{B2F3FA79-DE26-1F2A-0CF7-5671B73C8B6F}"/>
              </a:ext>
            </a:extLst>
          </p:cNvPr>
          <p:cNvSpPr>
            <a:spLocks noGrp="1"/>
          </p:cNvSpPr>
          <p:nvPr>
            <p:ph type="ctrTitle"/>
          </p:nvPr>
        </p:nvSpPr>
        <p:spPr>
          <a:xfrm>
            <a:off x="1524000" y="2286000"/>
            <a:ext cx="9144000" cy="2286000"/>
          </a:xfrm>
        </p:spPr>
        <p:txBody>
          <a:bodyPr/>
          <a:lstStyle/>
          <a:p>
            <a:pPr algn="r"/>
            <a:r>
              <a:rPr lang="en-US" sz="5400" dirty="0">
                <a:latin typeface="Bodoni MT Black" panose="02070A03080606020203" pitchFamily="18" charset="0"/>
              </a:rPr>
              <a:t>Analysis</a:t>
            </a:r>
            <a:endParaRPr lang="en-US" sz="5400" dirty="0"/>
          </a:p>
        </p:txBody>
      </p:sp>
    </p:spTree>
    <p:extLst>
      <p:ext uri="{BB962C8B-B14F-4D97-AF65-F5344CB8AC3E}">
        <p14:creationId xmlns:p14="http://schemas.microsoft.com/office/powerpoint/2010/main" val="467869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0" y="738232"/>
            <a:ext cx="6183850" cy="956344"/>
          </a:xfrm>
          <a:noFill/>
        </p:spPr>
        <p:txBody>
          <a:bodyPr>
            <a:noAutofit/>
          </a:bodyPr>
          <a:lstStyle/>
          <a:p>
            <a:pPr algn="l"/>
            <a:r>
              <a:rPr lang="en-US" sz="2000" b="1" dirty="0"/>
              <a:t> </a:t>
            </a:r>
            <a:r>
              <a:rPr lang="en-US" sz="2800" b="1" dirty="0">
                <a:solidFill>
                  <a:schemeClr val="accent1"/>
                </a:solidFill>
              </a:rPr>
              <a:t>Sales By Category</a:t>
            </a:r>
            <a:br>
              <a:rPr lang="en-US" sz="2000" b="1" dirty="0"/>
            </a:br>
            <a:br>
              <a:rPr lang="en-US" sz="2000" b="1" dirty="0"/>
            </a:br>
            <a:br>
              <a:rPr lang="en-US" sz="2000" b="1" dirty="0"/>
            </a:br>
            <a:endParaRPr lang="en-US" sz="2000" b="1" dirty="0"/>
          </a:p>
        </p:txBody>
      </p:sp>
      <p:graphicFrame>
        <p:nvGraphicFramePr>
          <p:cNvPr id="5" name="Picture Placeholder 4">
            <a:extLst>
              <a:ext uri="{FF2B5EF4-FFF2-40B4-BE49-F238E27FC236}">
                <a16:creationId xmlns:a16="http://schemas.microsoft.com/office/drawing/2014/main" id="{17020C89-7BB4-4D03-82FE-5B3EBC3E11C2}"/>
              </a:ext>
            </a:extLst>
          </p:cNvPr>
          <p:cNvGraphicFramePr>
            <a:graphicFrameLocks noGrp="1"/>
          </p:cNvGraphicFramePr>
          <p:nvPr>
            <p:ph type="pic" sz="quarter" idx="10"/>
            <p:extLst>
              <p:ext uri="{D42A27DB-BD31-4B8C-83A1-F6EECF244321}">
                <p14:modId xmlns:p14="http://schemas.microsoft.com/office/powerpoint/2010/main" val="830179773"/>
              </p:ext>
            </p:extLst>
          </p:nvPr>
        </p:nvGraphicFramePr>
        <p:xfrm>
          <a:off x="6322142" y="1494503"/>
          <a:ext cx="5289755" cy="426034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CD9FB5D7-7346-5C53-04CA-71F6434F5F0F}"/>
              </a:ext>
            </a:extLst>
          </p:cNvPr>
          <p:cNvSpPr txBox="1"/>
          <p:nvPr/>
        </p:nvSpPr>
        <p:spPr>
          <a:xfrm>
            <a:off x="108155" y="1103153"/>
            <a:ext cx="6425381" cy="2308324"/>
          </a:xfrm>
          <a:prstGeom prst="rect">
            <a:avLst/>
          </a:prstGeom>
          <a:noFill/>
        </p:spPr>
        <p:txBody>
          <a:bodyPr wrap="square" rtlCol="0">
            <a:spAutoFit/>
          </a:bodyPr>
          <a:lstStyle/>
          <a:p>
            <a:pPr marL="285750" indent="-285750">
              <a:buFont typeface="Wingdings" panose="05000000000000000000" pitchFamily="2" charset="2"/>
              <a:buChar char="Ø"/>
            </a:pPr>
            <a:r>
              <a:rPr lang="en-US" dirty="0"/>
              <a:t> Some Categories like Electronics / Furniture will generate more revenue than others.</a:t>
            </a:r>
          </a:p>
          <a:p>
            <a:endParaRPr lang="en-US" dirty="0"/>
          </a:p>
          <a:p>
            <a:r>
              <a:rPr lang="en-US" dirty="0"/>
              <a:t>👉 </a:t>
            </a:r>
            <a:r>
              <a:rPr lang="en-US" b="1" i="1" dirty="0"/>
              <a:t>Action:</a:t>
            </a:r>
            <a:endParaRPr lang="en-US" b="1" dirty="0"/>
          </a:p>
          <a:p>
            <a:r>
              <a:rPr lang="en-US" dirty="0"/>
              <a:t>Increase stock for </a:t>
            </a:r>
            <a:r>
              <a:rPr lang="en-US" b="1" dirty="0"/>
              <a:t>high-performing categories</a:t>
            </a:r>
            <a:r>
              <a:rPr lang="en-US" dirty="0"/>
              <a:t> </a:t>
            </a:r>
          </a:p>
          <a:p>
            <a:r>
              <a:rPr lang="en-US" dirty="0"/>
              <a:t>Run ads/promotions on those categories </a:t>
            </a:r>
          </a:p>
          <a:p>
            <a:r>
              <a:rPr lang="en-US" dirty="0"/>
              <a:t>Reduce inventory of low-performing items</a:t>
            </a:r>
          </a:p>
          <a:p>
            <a:endParaRPr lang="en-IN" dirty="0"/>
          </a:p>
        </p:txBody>
      </p:sp>
      <p:sp>
        <p:nvSpPr>
          <p:cNvPr id="7" name="Rectangle 6">
            <a:extLst>
              <a:ext uri="{FF2B5EF4-FFF2-40B4-BE49-F238E27FC236}">
                <a16:creationId xmlns:a16="http://schemas.microsoft.com/office/drawing/2014/main" id="{6212334B-8FCD-7D6D-8353-E4917C501014}"/>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393043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1" y="550606"/>
            <a:ext cx="6626942" cy="530942"/>
          </a:xfrm>
          <a:noFill/>
        </p:spPr>
        <p:txBody>
          <a:bodyPr/>
          <a:lstStyle/>
          <a:p>
            <a:pPr algn="l"/>
            <a:r>
              <a:rPr lang="en-US" sz="3200" b="1" dirty="0">
                <a:solidFill>
                  <a:schemeClr val="accent1"/>
                </a:solidFill>
              </a:rPr>
              <a:t>Monthly Sales trend</a:t>
            </a:r>
          </a:p>
        </p:txBody>
      </p:sp>
      <p:graphicFrame>
        <p:nvGraphicFramePr>
          <p:cNvPr id="3" name="Chart 2">
            <a:extLst>
              <a:ext uri="{FF2B5EF4-FFF2-40B4-BE49-F238E27FC236}">
                <a16:creationId xmlns:a16="http://schemas.microsoft.com/office/drawing/2014/main" id="{858C4CC9-EA4E-43AE-BB71-3FF44E0B75A9}"/>
              </a:ext>
            </a:extLst>
          </p:cNvPr>
          <p:cNvGraphicFramePr>
            <a:graphicFrameLocks/>
          </p:cNvGraphicFramePr>
          <p:nvPr>
            <p:extLst>
              <p:ext uri="{D42A27DB-BD31-4B8C-83A1-F6EECF244321}">
                <p14:modId xmlns:p14="http://schemas.microsoft.com/office/powerpoint/2010/main" val="992239183"/>
              </p:ext>
            </p:extLst>
          </p:nvPr>
        </p:nvGraphicFramePr>
        <p:xfrm>
          <a:off x="5624052" y="1494503"/>
          <a:ext cx="6292644" cy="337246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4D23CBA9-B8E4-3337-7195-1090DE391FEB}"/>
              </a:ext>
            </a:extLst>
          </p:cNvPr>
          <p:cNvSpPr txBox="1"/>
          <p:nvPr/>
        </p:nvSpPr>
        <p:spPr>
          <a:xfrm>
            <a:off x="167148" y="1658571"/>
            <a:ext cx="5083277" cy="2308324"/>
          </a:xfrm>
          <a:prstGeom prst="rect">
            <a:avLst/>
          </a:prstGeom>
          <a:noFill/>
        </p:spPr>
        <p:txBody>
          <a:bodyPr wrap="square" rtlCol="0">
            <a:spAutoFit/>
          </a:bodyPr>
          <a:lstStyle/>
          <a:p>
            <a:pPr marL="285750" indent="-285750">
              <a:buFont typeface="Wingdings" panose="05000000000000000000" pitchFamily="2" charset="2"/>
              <a:buChar char="Ø"/>
            </a:pPr>
            <a:r>
              <a:rPr lang="en-US" dirty="0"/>
              <a:t>Sales usually peak in certain months ( Festivals, offers, etc.)</a:t>
            </a:r>
          </a:p>
          <a:p>
            <a:endParaRPr lang="en-US" dirty="0"/>
          </a:p>
          <a:p>
            <a:r>
              <a:rPr lang="en-US" dirty="0"/>
              <a:t>👉 </a:t>
            </a:r>
            <a:r>
              <a:rPr lang="en-US" b="1" i="1" dirty="0"/>
              <a:t>Action:</a:t>
            </a:r>
            <a:endParaRPr lang="en-US" b="1" dirty="0"/>
          </a:p>
          <a:p>
            <a:r>
              <a:rPr lang="en-US" dirty="0"/>
              <a:t>Plan </a:t>
            </a:r>
            <a:r>
              <a:rPr lang="en-US" b="1" dirty="0"/>
              <a:t>discount campaigns before peak months</a:t>
            </a:r>
            <a:r>
              <a:rPr lang="en-US" dirty="0"/>
              <a:t> </a:t>
            </a:r>
          </a:p>
          <a:p>
            <a:r>
              <a:rPr lang="en-US" dirty="0"/>
              <a:t>Increase inventory before high-demand periods </a:t>
            </a:r>
          </a:p>
          <a:p>
            <a:r>
              <a:rPr lang="en-US" dirty="0"/>
              <a:t>Launch marketing campaigns during slow months</a:t>
            </a:r>
          </a:p>
          <a:p>
            <a:pPr marL="285750" indent="-285750">
              <a:buFont typeface="Wingdings" panose="05000000000000000000" pitchFamily="2" charset="2"/>
              <a:buChar char="Ø"/>
            </a:pPr>
            <a:endParaRPr lang="en-IN" dirty="0"/>
          </a:p>
        </p:txBody>
      </p:sp>
      <p:sp>
        <p:nvSpPr>
          <p:cNvPr id="8" name="Rectangle 7">
            <a:extLst>
              <a:ext uri="{FF2B5EF4-FFF2-40B4-BE49-F238E27FC236}">
                <a16:creationId xmlns:a16="http://schemas.microsoft.com/office/drawing/2014/main" id="{BB78AE63-F033-0605-2D31-D3F7BC9ED827}"/>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679936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157316" y="365760"/>
            <a:ext cx="11196484" cy="1325880"/>
          </a:xfrm>
          <a:noFill/>
        </p:spPr>
        <p:txBody>
          <a:bodyPr anchor="ctr"/>
          <a:lstStyle/>
          <a:p>
            <a:pPr algn="l"/>
            <a:r>
              <a:rPr lang="en-US" b="1" dirty="0">
                <a:solidFill>
                  <a:schemeClr val="accent1"/>
                </a:solidFill>
              </a:rPr>
              <a:t>Payment method</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quarter" idx="13"/>
          </p:nvPr>
        </p:nvSpPr>
        <p:spPr>
          <a:xfrm>
            <a:off x="157317" y="1415845"/>
            <a:ext cx="5892962" cy="4746125"/>
          </a:xfrm>
          <a:noFill/>
        </p:spPr>
        <p:txBody>
          <a:bodyPr>
            <a:normAutofit/>
          </a:bodyPr>
          <a:lstStyle/>
          <a:p>
            <a:pPr marL="285750" indent="-285750">
              <a:buFont typeface="Wingdings" panose="05000000000000000000" pitchFamily="2" charset="2"/>
              <a:buChar char="Ø"/>
            </a:pPr>
            <a:r>
              <a:rPr lang="en-US" dirty="0"/>
              <a:t>Customer prefer specific payment methods ( UPI / Card)</a:t>
            </a:r>
          </a:p>
          <a:p>
            <a:r>
              <a:rPr lang="en-US" dirty="0"/>
              <a:t>👉 </a:t>
            </a:r>
            <a:r>
              <a:rPr lang="en-US" b="1" i="1" dirty="0"/>
              <a:t>Action:</a:t>
            </a:r>
            <a:endParaRPr lang="en-US" b="1" dirty="0"/>
          </a:p>
          <a:p>
            <a:r>
              <a:rPr lang="en-US" dirty="0"/>
              <a:t>Offer </a:t>
            </a:r>
            <a:r>
              <a:rPr lang="en-US" b="1" dirty="0"/>
              <a:t>cashback or discounts on popular payment modes</a:t>
            </a:r>
            <a:r>
              <a:rPr lang="en-US" dirty="0"/>
              <a:t> </a:t>
            </a:r>
          </a:p>
          <a:p>
            <a:r>
              <a:rPr lang="en-US" dirty="0"/>
              <a:t>Make checkout smoother for those methods </a:t>
            </a:r>
          </a:p>
          <a:p>
            <a:r>
              <a:rPr lang="en-US" dirty="0"/>
              <a:t>Partner with payment apps (like Paytm, </a:t>
            </a:r>
            <a:r>
              <a:rPr lang="en-US" dirty="0" err="1"/>
              <a:t>PhonePe</a:t>
            </a:r>
            <a:r>
              <a:rPr lang="en-US" dirty="0"/>
              <a:t>)</a:t>
            </a:r>
          </a:p>
          <a:p>
            <a:endParaRPr lang="en-US" dirty="0"/>
          </a:p>
        </p:txBody>
      </p:sp>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aphicFrame>
        <p:nvGraphicFramePr>
          <p:cNvPr id="6" name="Content Placeholder 5">
            <a:extLst>
              <a:ext uri="{FF2B5EF4-FFF2-40B4-BE49-F238E27FC236}">
                <a16:creationId xmlns:a16="http://schemas.microsoft.com/office/drawing/2014/main" id="{F43753BB-2428-4772-ADE9-A6353C81C541}"/>
              </a:ext>
            </a:extLst>
          </p:cNvPr>
          <p:cNvGraphicFramePr>
            <a:graphicFrameLocks noGrp="1"/>
          </p:cNvGraphicFramePr>
          <p:nvPr>
            <p:ph sz="quarter" idx="14"/>
            <p:extLst>
              <p:ext uri="{D42A27DB-BD31-4B8C-83A1-F6EECF244321}">
                <p14:modId xmlns:p14="http://schemas.microsoft.com/office/powerpoint/2010/main" val="2113018473"/>
              </p:ext>
            </p:extLst>
          </p:nvPr>
        </p:nvGraphicFramePr>
        <p:xfrm>
          <a:off x="6664167" y="1109663"/>
          <a:ext cx="4894262" cy="41386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43159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17987" y="365760"/>
            <a:ext cx="11235813" cy="1325563"/>
          </a:xfrm>
        </p:spPr>
        <p:txBody>
          <a:bodyPr anchor="ctr">
            <a:normAutofit/>
          </a:bodyPr>
          <a:lstStyle/>
          <a:p>
            <a:pPr algn="l"/>
            <a:r>
              <a:rPr lang="en-US" sz="2800" b="1" dirty="0">
                <a:solidFill>
                  <a:schemeClr val="accent1"/>
                </a:solidFill>
              </a:rPr>
              <a:t>Sales by location</a:t>
            </a:r>
          </a:p>
        </p:txBody>
      </p:sp>
      <p:sp>
        <p:nvSpPr>
          <p:cNvPr id="52" name="Content Placeholder 51">
            <a:extLst>
              <a:ext uri="{FF2B5EF4-FFF2-40B4-BE49-F238E27FC236}">
                <a16:creationId xmlns:a16="http://schemas.microsoft.com/office/drawing/2014/main" id="{F2CCE123-860F-8623-781F-12CEA66980F5}"/>
              </a:ext>
            </a:extLst>
          </p:cNvPr>
          <p:cNvSpPr>
            <a:spLocks noGrp="1"/>
          </p:cNvSpPr>
          <p:nvPr>
            <p:ph sz="quarter" idx="15"/>
          </p:nvPr>
        </p:nvSpPr>
        <p:spPr>
          <a:xfrm>
            <a:off x="117988" y="1356852"/>
            <a:ext cx="5854548" cy="4546531"/>
          </a:xfrm>
        </p:spPr>
        <p:txBody>
          <a:bodyPr>
            <a:normAutofit/>
          </a:bodyPr>
          <a:lstStyle/>
          <a:p>
            <a:pPr marL="285750" indent="-285750">
              <a:buFont typeface="Wingdings" panose="05000000000000000000" pitchFamily="2" charset="2"/>
              <a:buChar char="Ø"/>
            </a:pPr>
            <a:r>
              <a:rPr lang="en-US" dirty="0"/>
              <a:t>In Both location in-store and online sales are equal.</a:t>
            </a:r>
          </a:p>
          <a:p>
            <a:r>
              <a:rPr lang="en-US" dirty="0"/>
              <a:t>👉 </a:t>
            </a:r>
            <a:r>
              <a:rPr lang="en-US" b="1" i="1" dirty="0"/>
              <a:t>Action:</a:t>
            </a:r>
            <a:endParaRPr lang="en-US" b="1" dirty="0"/>
          </a:p>
          <a:p>
            <a:r>
              <a:rPr lang="en-US" dirty="0"/>
              <a:t>Focus marketing in </a:t>
            </a:r>
            <a:r>
              <a:rPr lang="en-US" b="1" dirty="0"/>
              <a:t>high-performing regions</a:t>
            </a:r>
            <a:r>
              <a:rPr lang="en-US" dirty="0"/>
              <a:t> </a:t>
            </a:r>
          </a:p>
          <a:p>
            <a:r>
              <a:rPr lang="en-US" dirty="0"/>
              <a:t>Improve logistics in low-performing areas </a:t>
            </a:r>
          </a:p>
          <a:p>
            <a:r>
              <a:rPr lang="en-US" dirty="0"/>
              <a:t>Launch region-specific offers</a:t>
            </a:r>
          </a:p>
          <a:p>
            <a:pPr marL="285750" indent="-285750">
              <a:buFont typeface="Wingdings" panose="05000000000000000000" pitchFamily="2" charset="2"/>
              <a:buChar char="Ø"/>
            </a:pPr>
            <a:endParaRPr lang="en-US" dirty="0"/>
          </a:p>
        </p:txBody>
      </p:sp>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aphicFrame>
        <p:nvGraphicFramePr>
          <p:cNvPr id="3" name="Content Placeholder 2">
            <a:extLst>
              <a:ext uri="{FF2B5EF4-FFF2-40B4-BE49-F238E27FC236}">
                <a16:creationId xmlns:a16="http://schemas.microsoft.com/office/drawing/2014/main" id="{46C7D988-7DC6-4BC3-9188-F7B1C16FF13B}"/>
              </a:ext>
            </a:extLst>
          </p:cNvPr>
          <p:cNvGraphicFramePr>
            <a:graphicFrameLocks noGrp="1"/>
          </p:cNvGraphicFramePr>
          <p:nvPr>
            <p:ph sz="quarter" idx="16"/>
            <p:extLst>
              <p:ext uri="{D42A27DB-BD31-4B8C-83A1-F6EECF244321}">
                <p14:modId xmlns:p14="http://schemas.microsoft.com/office/powerpoint/2010/main" val="1915316203"/>
              </p:ext>
            </p:extLst>
          </p:nvPr>
        </p:nvGraphicFramePr>
        <p:xfrm>
          <a:off x="6219464" y="953729"/>
          <a:ext cx="5402265" cy="494965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29609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0" y="147484"/>
            <a:ext cx="7010401" cy="884903"/>
          </a:xfrm>
          <a:noFill/>
        </p:spPr>
        <p:txBody>
          <a:bodyPr anchor="b"/>
          <a:lstStyle/>
          <a:p>
            <a:r>
              <a:rPr lang="en-US" sz="2800" b="1" dirty="0">
                <a:solidFill>
                  <a:schemeClr val="accent1"/>
                </a:solidFill>
              </a:rPr>
              <a:t>Top products</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0" y="1199535"/>
            <a:ext cx="5732206" cy="4962434"/>
          </a:xfrm>
          <a:noFill/>
        </p:spPr>
        <p:txBody>
          <a:bodyPr vert="horz" lIns="91440" tIns="45720" rIns="91440" bIns="45720" rtlCol="0" anchor="t">
            <a:normAutofit/>
          </a:bodyPr>
          <a:lstStyle/>
          <a:p>
            <a:pPr marL="285750" indent="-285750">
              <a:buFont typeface="Wingdings" panose="05000000000000000000" pitchFamily="2" charset="2"/>
              <a:buChar char="Ø"/>
            </a:pPr>
            <a:r>
              <a:rPr lang="en-US" dirty="0"/>
              <a:t>Few products contribute most of the revenue</a:t>
            </a:r>
          </a:p>
          <a:p>
            <a:endParaRPr lang="en-US" dirty="0"/>
          </a:p>
          <a:p>
            <a:r>
              <a:rPr lang="en-US" b="1" dirty="0"/>
              <a:t>👉 </a:t>
            </a:r>
            <a:r>
              <a:rPr lang="en-US" b="1" i="1" dirty="0"/>
              <a:t>Action:</a:t>
            </a:r>
            <a:endParaRPr lang="en-US" b="1" dirty="0"/>
          </a:p>
          <a:p>
            <a:r>
              <a:rPr lang="en-US" dirty="0"/>
              <a:t>Promote top-selling products more </a:t>
            </a:r>
          </a:p>
          <a:p>
            <a:r>
              <a:rPr lang="en-US" dirty="0"/>
              <a:t>Bundle them with low-selling items </a:t>
            </a:r>
          </a:p>
          <a:p>
            <a:r>
              <a:rPr lang="en-US" dirty="0"/>
              <a:t>Ensure they are always in stock</a:t>
            </a:r>
          </a:p>
          <a:p>
            <a:pPr marL="285750" indent="-285750">
              <a:buFont typeface="Wingdings" panose="05000000000000000000" pitchFamily="2" charset="2"/>
              <a:buChar char="Ø"/>
            </a:pPr>
            <a:endParaRPr lang="en-US" dirty="0"/>
          </a:p>
        </p:txBody>
      </p:sp>
      <p:graphicFrame>
        <p:nvGraphicFramePr>
          <p:cNvPr id="6" name="Picture Placeholder 5">
            <a:extLst>
              <a:ext uri="{FF2B5EF4-FFF2-40B4-BE49-F238E27FC236}">
                <a16:creationId xmlns:a16="http://schemas.microsoft.com/office/drawing/2014/main" id="{4DB24952-D19F-47CB-A112-B585BEA7CE92}"/>
              </a:ext>
            </a:extLst>
          </p:cNvPr>
          <p:cNvGraphicFramePr>
            <a:graphicFrameLocks noGrp="1"/>
          </p:cNvGraphicFramePr>
          <p:nvPr>
            <p:ph type="pic" sz="quarter" idx="10"/>
            <p:extLst>
              <p:ext uri="{D42A27DB-BD31-4B8C-83A1-F6EECF244321}">
                <p14:modId xmlns:p14="http://schemas.microsoft.com/office/powerpoint/2010/main" val="2593178171"/>
              </p:ext>
            </p:extLst>
          </p:nvPr>
        </p:nvGraphicFramePr>
        <p:xfrm>
          <a:off x="5122606" y="1895566"/>
          <a:ext cx="6882581" cy="2853415"/>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a:extLst>
              <a:ext uri="{FF2B5EF4-FFF2-40B4-BE49-F238E27FC236}">
                <a16:creationId xmlns:a16="http://schemas.microsoft.com/office/drawing/2014/main" id="{6607835E-84E3-5532-C2A4-2A0F9664EC4B}"/>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649597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83B33-4D04-DB72-486F-295709A054D9}"/>
              </a:ext>
            </a:extLst>
          </p:cNvPr>
          <p:cNvSpPr>
            <a:spLocks noGrp="1"/>
          </p:cNvSpPr>
          <p:nvPr>
            <p:ph type="ctrTitle"/>
          </p:nvPr>
        </p:nvSpPr>
        <p:spPr>
          <a:xfrm>
            <a:off x="0" y="137653"/>
            <a:ext cx="10668000" cy="855406"/>
          </a:xfrm>
        </p:spPr>
        <p:txBody>
          <a:bodyPr/>
          <a:lstStyle/>
          <a:p>
            <a:r>
              <a:rPr lang="en-US" sz="4400" b="1" dirty="0">
                <a:solidFill>
                  <a:schemeClr val="accent1"/>
                </a:solidFill>
              </a:rPr>
              <a:t>Final conclusion</a:t>
            </a:r>
            <a:endParaRPr lang="en-IN" sz="4400" b="1" dirty="0">
              <a:solidFill>
                <a:schemeClr val="accent1"/>
              </a:solidFill>
            </a:endParaRPr>
          </a:p>
        </p:txBody>
      </p:sp>
      <p:sp>
        <p:nvSpPr>
          <p:cNvPr id="8" name="Rectangle 7">
            <a:extLst>
              <a:ext uri="{FF2B5EF4-FFF2-40B4-BE49-F238E27FC236}">
                <a16:creationId xmlns:a16="http://schemas.microsoft.com/office/drawing/2014/main" id="{7A4CB761-9A1D-489C-EF8F-9584F7C6DD80}"/>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TextBox 8">
            <a:extLst>
              <a:ext uri="{FF2B5EF4-FFF2-40B4-BE49-F238E27FC236}">
                <a16:creationId xmlns:a16="http://schemas.microsoft.com/office/drawing/2014/main" id="{23FAFDFB-0D40-2251-A360-2A0BA95C0D28}"/>
              </a:ext>
            </a:extLst>
          </p:cNvPr>
          <p:cNvSpPr txBox="1"/>
          <p:nvPr/>
        </p:nvSpPr>
        <p:spPr>
          <a:xfrm>
            <a:off x="1828800" y="1229031"/>
            <a:ext cx="7865806" cy="2031325"/>
          </a:xfrm>
          <a:prstGeom prst="rect">
            <a:avLst/>
          </a:prstGeom>
          <a:noFill/>
        </p:spPr>
        <p:txBody>
          <a:bodyPr wrap="square" rtlCol="0">
            <a:spAutoFit/>
          </a:bodyPr>
          <a:lstStyle/>
          <a:p>
            <a:pPr algn="ctr"/>
            <a:r>
              <a:rPr lang="en-US" b="1" dirty="0"/>
              <a:t>The analysis reveals that sales are highly influenced by product category, location, and seasonal trends. High-performing categories and regions contribute the majority of revenue, while discounts and payment preferences significantly impact customer purchasing behavior. By focusing on targeted promotions, optimizing inventory, and leveraging customer insights, the business can improve overall sales performance and profitability</a:t>
            </a:r>
            <a:r>
              <a:rPr lang="en-US" dirty="0"/>
              <a:t>.</a:t>
            </a:r>
          </a:p>
          <a:p>
            <a:pPr algn="ctr"/>
            <a:endParaRPr lang="en-IN" dirty="0"/>
          </a:p>
        </p:txBody>
      </p:sp>
    </p:spTree>
    <p:extLst>
      <p:ext uri="{BB962C8B-B14F-4D97-AF65-F5344CB8AC3E}">
        <p14:creationId xmlns:p14="http://schemas.microsoft.com/office/powerpoint/2010/main" val="1827714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437" y="400485"/>
            <a:ext cx="9467127" cy="2527911"/>
          </a:xfrm>
        </p:spPr>
        <p:txBody>
          <a:bodyPr/>
          <a:lstStyle/>
          <a:p>
            <a:r>
              <a:rPr lang="en-US" dirty="0"/>
              <a:t>THANK YOU</a:t>
            </a:r>
          </a:p>
        </p:txBody>
      </p:sp>
      <p:sp>
        <p:nvSpPr>
          <p:cNvPr id="8" name="Text Placeholder 7">
            <a:extLst>
              <a:ext uri="{FF2B5EF4-FFF2-40B4-BE49-F238E27FC236}">
                <a16:creationId xmlns:a16="http://schemas.microsoft.com/office/drawing/2014/main" id="{86613063-168A-02B8-4326-BB842F3B83E2}"/>
              </a:ext>
            </a:extLst>
          </p:cNvPr>
          <p:cNvSpPr>
            <a:spLocks noGrp="1"/>
          </p:cNvSpPr>
          <p:nvPr>
            <p:ph type="body" sz="quarter" idx="10"/>
          </p:nvPr>
        </p:nvSpPr>
        <p:spPr>
          <a:xfrm>
            <a:off x="1362075" y="3738622"/>
            <a:ext cx="9467850" cy="2527911"/>
          </a:xfrm>
        </p:spPr>
        <p:txBody>
          <a:bodyPr/>
          <a:lstStyle/>
          <a:p>
            <a:endParaRPr lang="en-US" dirty="0"/>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3.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Tech presentation</Template>
  <TotalTime>114</TotalTime>
  <Words>357</Words>
  <Application>Microsoft Office PowerPoint</Application>
  <PresentationFormat>Widescreen</PresentationFormat>
  <Paragraphs>62</Paragraphs>
  <Slides>10</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Bodoni MT Black</vt:lpstr>
      <vt:lpstr>Calibri</vt:lpstr>
      <vt:lpstr>Calibri Light</vt:lpstr>
      <vt:lpstr>Wingdings</vt:lpstr>
      <vt:lpstr>Custom</vt:lpstr>
      <vt:lpstr>Retail Store sales analysis CREATED BY SANJANA BHUJADE </vt:lpstr>
      <vt:lpstr>Overview</vt:lpstr>
      <vt:lpstr>Analysis</vt:lpstr>
      <vt:lpstr> Sales By Category   </vt:lpstr>
      <vt:lpstr>Monthly Sales trend</vt:lpstr>
      <vt:lpstr>Payment method</vt:lpstr>
      <vt:lpstr>Sales by location</vt:lpstr>
      <vt:lpstr>Top products</vt:lpstr>
      <vt:lpstr>Final 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Sanjana Bhujade</dc:creator>
  <cp:lastModifiedBy>Sanjana Bhujade</cp:lastModifiedBy>
  <cp:revision>2</cp:revision>
  <dcterms:created xsi:type="dcterms:W3CDTF">2026-03-24T18:24:16Z</dcterms:created>
  <dcterms:modified xsi:type="dcterms:W3CDTF">2026-03-24T20:18:32Z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